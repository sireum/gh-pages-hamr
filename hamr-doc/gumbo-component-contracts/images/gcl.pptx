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1171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AD2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9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200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749C0-06DE-D1C0-C340-8FDFAF0115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29E754-F995-9B8B-5B4D-FED3718D56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A80634-6AB1-E7EB-14D1-2DCCBC86F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4A567-F553-462E-B104-E1496A66D46C}" type="datetimeFigureOut">
              <a:rPr lang="en-US" smtClean="0"/>
              <a:t>6/3/23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1EA2FE-8666-F9B0-27F2-471502623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A0F8CC-899B-4615-6D73-757D241E8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B8FF6-F76E-4FEE-9822-D1B690409B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192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E1D97-E47C-0E8E-B975-FF1B20490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7C2F8-5FD2-7AC2-9270-E3BDB6BE8D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932A07-5E44-1A25-25C8-40FD7958A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4A567-F553-462E-B104-E1496A66D46C}" type="datetimeFigureOut">
              <a:rPr lang="en-US" smtClean="0"/>
              <a:t>6/3/23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5358A7-23F1-3EE8-BE58-BA3E8A0F5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87A02-162E-3300-6D50-3B65411A1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B8FF6-F76E-4FEE-9822-D1B690409B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521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46540-A7BD-360D-B703-1C6327F80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2BF3E-617D-1139-8BD7-52D0C2862C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421886-56F4-7E74-F73B-69E94AD66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4A567-F553-462E-B104-E1496A66D46C}" type="datetimeFigureOut">
              <a:rPr lang="en-US" smtClean="0"/>
              <a:t>6/3/23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00E802-8A97-34C2-7EC6-4F2D20879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C7AD4E-3394-3892-F3AF-927791C2B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B8FF6-F76E-4FEE-9822-D1B690409B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452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747DB-DEFF-CF18-9259-68B6ED9F7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2319E-455F-9E27-F839-33C22EDE55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E7E60F-E26F-F37C-BD03-14B4B2E414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37726B-FFAD-CCF6-0E6C-673762F44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4A567-F553-462E-B104-E1496A66D46C}" type="datetimeFigureOut">
              <a:rPr lang="en-US" smtClean="0"/>
              <a:t>6/3/23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FC5F30-971E-3626-88BB-277566FC3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F1D4AB-ADA9-412D-BA68-61966BC70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B8FF6-F76E-4FEE-9822-D1B690409B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816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45F2C-5FDE-8DCB-9B63-94F6EB5D3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B2B81B-703B-BAE4-4B77-1E0C482217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B72B6B-A07F-A287-9622-E995B403D6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FCC682-3373-4C07-4C92-902BEA8417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E6EE8D-6AA1-1752-1AC6-5FB24538DA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0FE2BF-1131-36F6-84D2-8FD8C0740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4A567-F553-462E-B104-E1496A66D46C}" type="datetimeFigureOut">
              <a:rPr lang="en-US" smtClean="0"/>
              <a:t>6/3/23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2053B2-0BFF-BBAD-F768-275BAFAB8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66285D-A904-BE9F-A327-60007CB87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B8FF6-F76E-4FEE-9822-D1B690409B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540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64033-B55B-C53A-34CD-77E4AE354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1C4BDC-FA75-EB8D-DB6E-C2E279EA1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4A567-F553-462E-B104-E1496A66D46C}" type="datetimeFigureOut">
              <a:rPr lang="en-US" smtClean="0"/>
              <a:t>6/3/23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E05951-E45F-1CB2-67F0-B4C150701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A28639-58C1-2F8F-F282-F3CF8AA3F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B8FF6-F76E-4FEE-9822-D1B690409B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586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81CFFC-9D1C-6436-65E8-810F3CCCF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4A567-F553-462E-B104-E1496A66D46C}" type="datetimeFigureOut">
              <a:rPr lang="en-US" smtClean="0"/>
              <a:t>6/3/23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CECDFD-5CA2-F64A-19CD-E6E4E9EB1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F6194B-ECAD-988D-D7F5-F5161EB5F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B8FF6-F76E-4FEE-9822-D1B690409B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876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5AA41-5428-B73C-20D1-B52116ED1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4EB445-A81F-EA2D-2B2D-2E1C8D6634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721B5E-8FDB-04A4-8AC4-2699707F79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55D87D-4C14-D9C9-5F03-CDE4F99B2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4A567-F553-462E-B104-E1496A66D46C}" type="datetimeFigureOut">
              <a:rPr lang="en-US" smtClean="0"/>
              <a:t>6/3/23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6FED9D-7E39-AA2C-B5AF-AAD8B3EF4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190572-9086-0D45-F628-9878E7F4F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B8FF6-F76E-4FEE-9822-D1B690409B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390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F2924-9397-D395-1E23-84D72779F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A7631F-AE36-E87B-322D-B2B5AA6C39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82ED5C-63F4-5411-65EA-432C394B72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63C610-1FA2-186C-787C-6433DBA7F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4A567-F553-462E-B104-E1496A66D46C}" type="datetimeFigureOut">
              <a:rPr lang="en-US" smtClean="0"/>
              <a:t>6/3/23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D5C5A2-FF1B-4C8B-F433-91DBB54B6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252951-86AB-C08F-7B62-5C2459D61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B8FF6-F76E-4FEE-9822-D1B690409B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218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60140-0B38-AEDF-2855-95969DBBB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0BF475-7E32-6803-3387-46DFF250D5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51C45-421F-5AAE-3FBC-B2066097D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4A567-F553-462E-B104-E1496A66D46C}" type="datetimeFigureOut">
              <a:rPr lang="en-US" smtClean="0"/>
              <a:t>6/3/23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9992DD-0312-113D-5E70-67ABD478C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91F6E-EDF0-606E-0C4F-A464FFEA8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B8FF6-F76E-4FEE-9822-D1B690409B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856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82F2BC-2A9C-494C-2F39-D98A441257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DCC968-2752-66AD-0D8C-BD152255EE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4F439F-EBEA-AC45-45E8-5D518EFCC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4A567-F553-462E-B104-E1496A66D46C}" type="datetimeFigureOut">
              <a:rPr lang="en-US" smtClean="0"/>
              <a:t>6/3/23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FCFAC-5063-AE5A-9A1C-AF25792B7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9A7EAE-9E48-3521-AB3D-9053D2EB8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B8FF6-F76E-4FEE-9822-D1B690409B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631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27D357-CB9C-0A6D-1C98-E0449188B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8D69D3-3484-D910-46BF-EE3272C157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222C30-61CE-6DC2-5EB3-40277FB733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D4A567-F553-462E-B104-E1496A66D46C}" type="datetimeFigureOut">
              <a:rPr lang="en-US" smtClean="0"/>
              <a:t>6/3/23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EA203-E68D-EF61-01CF-9D411F6E5D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AC08A-2498-5014-42B4-153283B7A8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2B8FF6-F76E-4FEE-9822-D1B690409B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923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8E93B54-A3FA-E572-CD4F-4C54D521A2EF}"/>
              </a:ext>
            </a:extLst>
          </p:cNvPr>
          <p:cNvSpPr/>
          <p:nvPr/>
        </p:nvSpPr>
        <p:spPr bwMode="auto">
          <a:xfrm>
            <a:off x="4278033" y="715437"/>
            <a:ext cx="3708916" cy="5673659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endParaRPr lang="en-US" sz="3200">
              <a:latin typeface="Tahoma" charset="0"/>
            </a:endParaRPr>
          </a:p>
        </p:txBody>
      </p:sp>
      <p:sp>
        <p:nvSpPr>
          <p:cNvPr id="7" name="Rounded Rectangle 46">
            <a:extLst>
              <a:ext uri="{FF2B5EF4-FFF2-40B4-BE49-F238E27FC236}">
                <a16:creationId xmlns:a16="http://schemas.microsoft.com/office/drawing/2014/main" id="{118EB20A-3636-9E97-7672-2E2F63AD50B1}"/>
              </a:ext>
            </a:extLst>
          </p:cNvPr>
          <p:cNvSpPr/>
          <p:nvPr/>
        </p:nvSpPr>
        <p:spPr bwMode="auto">
          <a:xfrm>
            <a:off x="4826000" y="1509580"/>
            <a:ext cx="2540000" cy="4572000"/>
          </a:xfrm>
          <a:prstGeom prst="roundRect">
            <a:avLst/>
          </a:prstGeom>
          <a:solidFill>
            <a:srgbClr val="DAD2F5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0" bIns="60960" numCol="1" rtlCol="0" anchor="ctr" anchorCtr="0" compatLnSpc="1">
            <a:prstTxWarp prst="textNoShape">
              <a:avLst/>
            </a:prstTxWarp>
            <a:noAutofit/>
          </a:bodyPr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endParaRPr lang="en-US" sz="1867" dirty="0">
              <a:latin typeface="Tahoma" charset="0"/>
            </a:endParaRPr>
          </a:p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endParaRPr lang="en-US" sz="1867" dirty="0">
              <a:latin typeface="Tahoma" charset="0"/>
            </a:endParaRPr>
          </a:p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endParaRPr lang="en-US" sz="1867" dirty="0">
              <a:latin typeface="Tahoma" charset="0"/>
            </a:endParaRPr>
          </a:p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endParaRPr lang="en-US" sz="1867" dirty="0">
              <a:latin typeface="Tahoma" charset="0"/>
            </a:endParaRPr>
          </a:p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endParaRPr lang="en-US" sz="1867" dirty="0">
              <a:latin typeface="Tahoma" charset="0"/>
            </a:endParaRPr>
          </a:p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endParaRPr lang="en-US" sz="1867" dirty="0">
              <a:latin typeface="Tahoma" charset="0"/>
            </a:endParaRPr>
          </a:p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endParaRPr lang="en-US" sz="1867" dirty="0">
              <a:latin typeface="Tahoma" charset="0"/>
            </a:endParaRPr>
          </a:p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lang="en-US" sz="1867" dirty="0">
                <a:latin typeface="Tahoma" charset="0"/>
              </a:rPr>
              <a:t> </a:t>
            </a:r>
          </a:p>
          <a:p>
            <a:pPr algn="ctr" defTabSz="1219170" fontAlgn="base">
              <a:spcBef>
                <a:spcPct val="0"/>
              </a:spcBef>
              <a:spcAft>
                <a:spcPct val="0"/>
              </a:spcAft>
            </a:pPr>
            <a:endParaRPr lang="en-US" sz="1333" dirty="0">
              <a:latin typeface="Tahoma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D6CF9B4-4B2C-2993-87FA-445A75430C8A}"/>
              </a:ext>
            </a:extLst>
          </p:cNvPr>
          <p:cNvSpPr/>
          <p:nvPr/>
        </p:nvSpPr>
        <p:spPr bwMode="auto">
          <a:xfrm>
            <a:off x="4724399" y="4453728"/>
            <a:ext cx="215365" cy="258058"/>
          </a:xfrm>
          <a:prstGeom prst="ellips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</a:pPr>
            <a:endParaRPr lang="en-US" sz="1333">
              <a:latin typeface="Tahoma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D19982-A2D9-40FC-E724-4157BF9EB5A2}"/>
              </a:ext>
            </a:extLst>
          </p:cNvPr>
          <p:cNvSpPr txBox="1"/>
          <p:nvPr/>
        </p:nvSpPr>
        <p:spPr>
          <a:xfrm>
            <a:off x="5067430" y="1459659"/>
            <a:ext cx="2316949" cy="379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67" b="1" dirty="0"/>
              <a:t>Application Code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F8BDB9C-8B2D-A18D-2B35-8591B84DAD04}"/>
              </a:ext>
            </a:extLst>
          </p:cNvPr>
          <p:cNvSpPr txBox="1"/>
          <p:nvPr/>
        </p:nvSpPr>
        <p:spPr>
          <a:xfrm>
            <a:off x="4315370" y="2590316"/>
            <a:ext cx="5549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in1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CB6E70A-C468-C9C2-C2E3-4F24BA9A82A9}"/>
              </a:ext>
            </a:extLst>
          </p:cNvPr>
          <p:cNvSpPr txBox="1"/>
          <p:nvPr/>
        </p:nvSpPr>
        <p:spPr>
          <a:xfrm>
            <a:off x="4302782" y="4044148"/>
            <a:ext cx="5549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in2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E730A67-1C43-DA74-7487-845957360B60}"/>
              </a:ext>
            </a:extLst>
          </p:cNvPr>
          <p:cNvSpPr txBox="1"/>
          <p:nvPr/>
        </p:nvSpPr>
        <p:spPr>
          <a:xfrm>
            <a:off x="7342320" y="2660226"/>
            <a:ext cx="6783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out1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28B9376-1D79-937B-8A32-4D22352690DF}"/>
              </a:ext>
            </a:extLst>
          </p:cNvPr>
          <p:cNvSpPr txBox="1"/>
          <p:nvPr/>
        </p:nvSpPr>
        <p:spPr>
          <a:xfrm>
            <a:off x="7362491" y="4041011"/>
            <a:ext cx="6783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out2</a:t>
            </a:r>
          </a:p>
        </p:txBody>
      </p:sp>
      <p:sp>
        <p:nvSpPr>
          <p:cNvPr id="30" name="Text Box 12">
            <a:extLst>
              <a:ext uri="{FF2B5EF4-FFF2-40B4-BE49-F238E27FC236}">
                <a16:creationId xmlns:a16="http://schemas.microsoft.com/office/drawing/2014/main" id="{08E89C9F-50EC-822C-04CE-33ADB9B803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1475" y="1828991"/>
            <a:ext cx="1252633" cy="584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63500" dist="35921" dir="2700000" algn="ctr" rotWithShape="0">
              <a:schemeClr val="bg2"/>
            </a:outerShdw>
          </a:effectLst>
        </p:spPr>
        <p:txBody>
          <a:bodyPr wrap="square" anchor="ctr">
            <a:prstTxWarp prst="textNoShape">
              <a:avLst/>
            </a:prstTxWarp>
            <a:spAutoFit/>
          </a:bodyPr>
          <a:lstStyle/>
          <a:p>
            <a:pPr algn="l"/>
            <a:r>
              <a:rPr lang="en-US" sz="1600" b="1" i="1" dirty="0"/>
              <a:t>Integration Constraints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1FF9C74-AC78-1801-4594-6C23538ED12C}"/>
              </a:ext>
            </a:extLst>
          </p:cNvPr>
          <p:cNvSpPr txBox="1"/>
          <p:nvPr/>
        </p:nvSpPr>
        <p:spPr>
          <a:xfrm>
            <a:off x="5560784" y="2242817"/>
            <a:ext cx="947695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67" i="1" dirty="0"/>
              <a:t>x</a:t>
            </a:r>
            <a:r>
              <a:rPr lang="en-US" sz="1867" i="1" baseline="-25000" dirty="0"/>
              <a:t>1</a:t>
            </a:r>
            <a:r>
              <a:rPr lang="en-US" sz="1867" i="1" dirty="0"/>
              <a:t>, …, x</a:t>
            </a:r>
            <a:r>
              <a:rPr lang="en-US" sz="1867" i="1" baseline="-25000" dirty="0"/>
              <a:t>n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CD10659-36A9-9810-A26D-FF17FD482AF8}"/>
              </a:ext>
            </a:extLst>
          </p:cNvPr>
          <p:cNvSpPr txBox="1"/>
          <p:nvPr/>
        </p:nvSpPr>
        <p:spPr>
          <a:xfrm>
            <a:off x="5320564" y="1959309"/>
            <a:ext cx="1632306" cy="3796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867" i="1" dirty="0"/>
              <a:t>State Variables</a:t>
            </a:r>
          </a:p>
        </p:txBody>
      </p:sp>
      <p:sp>
        <p:nvSpPr>
          <p:cNvPr id="48" name="Text Box 12">
            <a:extLst>
              <a:ext uri="{FF2B5EF4-FFF2-40B4-BE49-F238E27FC236}">
                <a16:creationId xmlns:a16="http://schemas.microsoft.com/office/drawing/2014/main" id="{9EC414D7-34FA-9134-7D27-1F83998350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9436" y="5086309"/>
            <a:ext cx="1610669" cy="584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63500" dist="35921" dir="2700000" algn="ctr" rotWithShape="0">
              <a:schemeClr val="bg2"/>
            </a:outerShdw>
          </a:effectLst>
        </p:spPr>
        <p:txBody>
          <a:bodyPr wrap="square" anchor="ctr">
            <a:prstTxWarp prst="textNoShape">
              <a:avLst/>
            </a:prstTxWarp>
            <a:spAutoFit/>
          </a:bodyPr>
          <a:lstStyle/>
          <a:p>
            <a:pPr algn="l"/>
            <a:r>
              <a:rPr lang="en-US" sz="1600" b="1" i="1" dirty="0"/>
              <a:t>Entry Point Contracts</a:t>
            </a:r>
          </a:p>
        </p:txBody>
      </p:sp>
      <p:sp>
        <p:nvSpPr>
          <p:cNvPr id="50" name="Text Box 12">
            <a:extLst>
              <a:ext uri="{FF2B5EF4-FFF2-40B4-BE49-F238E27FC236}">
                <a16:creationId xmlns:a16="http://schemas.microsoft.com/office/drawing/2014/main" id="{2E69360F-0031-5827-CA65-DC949A0824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078" y="5803513"/>
            <a:ext cx="1539533" cy="3385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63500" dist="35921" dir="2700000" algn="ctr" rotWithShape="0">
              <a:schemeClr val="bg2"/>
            </a:outerShdw>
          </a:effectLst>
        </p:spPr>
        <p:txBody>
          <a:bodyPr wrap="square" anchor="ctr">
            <a:prstTxWarp prst="textNoShape">
              <a:avLst/>
            </a:prstTxWarp>
            <a:spAutoFit/>
          </a:bodyPr>
          <a:lstStyle/>
          <a:p>
            <a:pPr algn="l"/>
            <a:r>
              <a:rPr lang="en-US" sz="1600" b="1" i="1" dirty="0"/>
              <a:t>Data Invariants</a:t>
            </a:r>
          </a:p>
        </p:txBody>
      </p:sp>
      <p:sp>
        <p:nvSpPr>
          <p:cNvPr id="53" name="Cylinder 52">
            <a:extLst>
              <a:ext uri="{FF2B5EF4-FFF2-40B4-BE49-F238E27FC236}">
                <a16:creationId xmlns:a16="http://schemas.microsoft.com/office/drawing/2014/main" id="{5B7C6903-4700-8980-DC84-5ACB7E2EE564}"/>
              </a:ext>
            </a:extLst>
          </p:cNvPr>
          <p:cNvSpPr/>
          <p:nvPr/>
        </p:nvSpPr>
        <p:spPr>
          <a:xfrm>
            <a:off x="3763842" y="3104058"/>
            <a:ext cx="806855" cy="277812"/>
          </a:xfrm>
          <a:prstGeom prst="can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/>
            <a:endParaRPr lang="en-US" sz="2133" dirty="0">
              <a:solidFill>
                <a:schemeClr val="tx1"/>
              </a:solidFill>
            </a:endParaRP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6E300AA4-867A-9B6C-DF47-B664DBC769EA}"/>
              </a:ext>
            </a:extLst>
          </p:cNvPr>
          <p:cNvCxnSpPr>
            <a:cxnSpLocks/>
            <a:stCxn id="53" idx="4"/>
          </p:cNvCxnSpPr>
          <p:nvPr/>
        </p:nvCxnSpPr>
        <p:spPr>
          <a:xfrm flipV="1">
            <a:off x="4570697" y="3240136"/>
            <a:ext cx="142914" cy="28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9B0FF67D-5FF5-60C0-EF95-9BFB333CFB9C}"/>
              </a:ext>
            </a:extLst>
          </p:cNvPr>
          <p:cNvSpPr txBox="1"/>
          <p:nvPr/>
        </p:nvSpPr>
        <p:spPr>
          <a:xfrm>
            <a:off x="3592988" y="3373442"/>
            <a:ext cx="1271030" cy="5025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3" dirty="0"/>
              <a:t>Infrastructure</a:t>
            </a:r>
          </a:p>
          <a:p>
            <a:r>
              <a:rPr lang="en-US" sz="1333" dirty="0"/>
              <a:t>Port State</a:t>
            </a:r>
          </a:p>
        </p:txBody>
      </p:sp>
      <p:sp>
        <p:nvSpPr>
          <p:cNvPr id="59" name="Cylinder 58">
            <a:extLst>
              <a:ext uri="{FF2B5EF4-FFF2-40B4-BE49-F238E27FC236}">
                <a16:creationId xmlns:a16="http://schemas.microsoft.com/office/drawing/2014/main" id="{C675D45F-4696-16FA-2EED-8EC6918661AB}"/>
              </a:ext>
            </a:extLst>
          </p:cNvPr>
          <p:cNvSpPr/>
          <p:nvPr/>
        </p:nvSpPr>
        <p:spPr>
          <a:xfrm>
            <a:off x="3754543" y="4456343"/>
            <a:ext cx="806855" cy="277812"/>
          </a:xfrm>
          <a:prstGeom prst="can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/>
            <a:endParaRPr lang="en-US" sz="2133" dirty="0">
              <a:solidFill>
                <a:schemeClr val="tx1"/>
              </a:solidFill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6657565F-DD61-11E7-9EEC-6888746BF3C8}"/>
              </a:ext>
            </a:extLst>
          </p:cNvPr>
          <p:cNvCxnSpPr>
            <a:stCxn id="59" idx="4"/>
          </p:cNvCxnSpPr>
          <p:nvPr/>
        </p:nvCxnSpPr>
        <p:spPr>
          <a:xfrm flipV="1">
            <a:off x="4561397" y="4592422"/>
            <a:ext cx="142915" cy="28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E1BD9F6A-6E34-C577-1BDE-65E56994BA2F}"/>
              </a:ext>
            </a:extLst>
          </p:cNvPr>
          <p:cNvCxnSpPr>
            <a:cxnSpLocks/>
          </p:cNvCxnSpPr>
          <p:nvPr/>
        </p:nvCxnSpPr>
        <p:spPr>
          <a:xfrm flipH="1" flipV="1">
            <a:off x="1028103" y="5412780"/>
            <a:ext cx="183158" cy="390733"/>
          </a:xfrm>
          <a:prstGeom prst="straightConnector1">
            <a:avLst/>
          </a:prstGeom>
          <a:ln w="1905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74310ACC-DAC8-12F2-E936-7EB997B52A76}"/>
              </a:ext>
            </a:extLst>
          </p:cNvPr>
          <p:cNvCxnSpPr>
            <a:cxnSpLocks/>
          </p:cNvCxnSpPr>
          <p:nvPr/>
        </p:nvCxnSpPr>
        <p:spPr>
          <a:xfrm>
            <a:off x="3968479" y="2432645"/>
            <a:ext cx="345672" cy="391927"/>
          </a:xfrm>
          <a:prstGeom prst="straightConnector1">
            <a:avLst/>
          </a:prstGeom>
          <a:ln w="1905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Cylinder 68">
            <a:extLst>
              <a:ext uri="{FF2B5EF4-FFF2-40B4-BE49-F238E27FC236}">
                <a16:creationId xmlns:a16="http://schemas.microsoft.com/office/drawing/2014/main" id="{D7677B37-1006-35AE-68E4-63AAD9438F4F}"/>
              </a:ext>
            </a:extLst>
          </p:cNvPr>
          <p:cNvSpPr/>
          <p:nvPr/>
        </p:nvSpPr>
        <p:spPr>
          <a:xfrm>
            <a:off x="7646905" y="3060831"/>
            <a:ext cx="806855" cy="277812"/>
          </a:xfrm>
          <a:prstGeom prst="can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/>
            <a:endParaRPr lang="en-US" sz="2133" dirty="0">
              <a:solidFill>
                <a:schemeClr val="tx1"/>
              </a:solidFill>
            </a:endParaRP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0D6ECD8E-1D28-0915-6935-DB9D92C448FC}"/>
              </a:ext>
            </a:extLst>
          </p:cNvPr>
          <p:cNvCxnSpPr>
            <a:stCxn id="69" idx="4"/>
          </p:cNvCxnSpPr>
          <p:nvPr/>
        </p:nvCxnSpPr>
        <p:spPr>
          <a:xfrm flipV="1">
            <a:off x="8453759" y="3196910"/>
            <a:ext cx="142915" cy="28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Cylinder 71">
            <a:extLst>
              <a:ext uri="{FF2B5EF4-FFF2-40B4-BE49-F238E27FC236}">
                <a16:creationId xmlns:a16="http://schemas.microsoft.com/office/drawing/2014/main" id="{7B8825CE-3456-6495-B765-A69AEBC85EB6}"/>
              </a:ext>
            </a:extLst>
          </p:cNvPr>
          <p:cNvSpPr/>
          <p:nvPr/>
        </p:nvSpPr>
        <p:spPr>
          <a:xfrm>
            <a:off x="7683059" y="4438130"/>
            <a:ext cx="806855" cy="277812"/>
          </a:xfrm>
          <a:prstGeom prst="can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algn="ctr"/>
            <a:endParaRPr lang="en-US" sz="2133" dirty="0">
              <a:solidFill>
                <a:schemeClr val="tx1"/>
              </a:solidFill>
            </a:endParaRP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A7BDABB1-E6E7-B41D-E21F-CB2F688A216C}"/>
              </a:ext>
            </a:extLst>
          </p:cNvPr>
          <p:cNvCxnSpPr>
            <a:stCxn id="72" idx="4"/>
          </p:cNvCxnSpPr>
          <p:nvPr/>
        </p:nvCxnSpPr>
        <p:spPr>
          <a:xfrm flipV="1">
            <a:off x="8489913" y="4574209"/>
            <a:ext cx="142915" cy="28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F01CCB04-5081-E220-96D5-6C7CA1797346}"/>
              </a:ext>
            </a:extLst>
          </p:cNvPr>
          <p:cNvCxnSpPr>
            <a:cxnSpLocks/>
          </p:cNvCxnSpPr>
          <p:nvPr/>
        </p:nvCxnSpPr>
        <p:spPr>
          <a:xfrm>
            <a:off x="7365528" y="3212969"/>
            <a:ext cx="317531" cy="13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F435A0DF-F15F-1E30-5069-0BA3C9DDC346}"/>
              </a:ext>
            </a:extLst>
          </p:cNvPr>
          <p:cNvCxnSpPr>
            <a:cxnSpLocks/>
          </p:cNvCxnSpPr>
          <p:nvPr/>
        </p:nvCxnSpPr>
        <p:spPr>
          <a:xfrm>
            <a:off x="7332979" y="4588810"/>
            <a:ext cx="317531" cy="13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0D3A64C7-4A6D-487F-1619-B7438EE4505F}"/>
              </a:ext>
            </a:extLst>
          </p:cNvPr>
          <p:cNvCxnSpPr>
            <a:cxnSpLocks/>
          </p:cNvCxnSpPr>
          <p:nvPr/>
        </p:nvCxnSpPr>
        <p:spPr>
          <a:xfrm>
            <a:off x="3443521" y="3245037"/>
            <a:ext cx="317531" cy="13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4D2540C8-6013-B789-848F-10966E2DC45B}"/>
              </a:ext>
            </a:extLst>
          </p:cNvPr>
          <p:cNvCxnSpPr>
            <a:cxnSpLocks/>
          </p:cNvCxnSpPr>
          <p:nvPr/>
        </p:nvCxnSpPr>
        <p:spPr>
          <a:xfrm>
            <a:off x="3434223" y="4616089"/>
            <a:ext cx="317531" cy="13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 Box 12">
            <a:extLst>
              <a:ext uri="{FF2B5EF4-FFF2-40B4-BE49-F238E27FC236}">
                <a16:creationId xmlns:a16="http://schemas.microsoft.com/office/drawing/2014/main" id="{6377DB5E-B25B-B644-3402-1576C3F138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0443" y="1608555"/>
            <a:ext cx="1387739" cy="584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63500" dist="35921" dir="2700000" algn="ctr" rotWithShape="0">
              <a:schemeClr val="bg2"/>
            </a:outerShdw>
          </a:effectLst>
        </p:spPr>
        <p:txBody>
          <a:bodyPr wrap="square" anchor="ctr">
            <a:prstTxWarp prst="textNoShape">
              <a:avLst/>
            </a:prstTxWarp>
            <a:spAutoFit/>
          </a:bodyPr>
          <a:lstStyle/>
          <a:p>
            <a:pPr algn="l"/>
            <a:r>
              <a:rPr lang="en-US" sz="1600" b="1" i="1" dirty="0"/>
              <a:t>State Variable Declarations</a:t>
            </a: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9DE6F593-7BC7-1AED-7871-89097A6647B3}"/>
              </a:ext>
            </a:extLst>
          </p:cNvPr>
          <p:cNvCxnSpPr>
            <a:cxnSpLocks/>
          </p:cNvCxnSpPr>
          <p:nvPr/>
        </p:nvCxnSpPr>
        <p:spPr>
          <a:xfrm flipH="1" flipV="1">
            <a:off x="6831965" y="4876528"/>
            <a:ext cx="720278" cy="420371"/>
          </a:xfrm>
          <a:prstGeom prst="straightConnector1">
            <a:avLst/>
          </a:prstGeom>
          <a:ln w="1905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E09B3A6E-1E9E-2E3B-C18F-C240ED70B5C2}"/>
              </a:ext>
            </a:extLst>
          </p:cNvPr>
          <p:cNvCxnSpPr>
            <a:cxnSpLocks/>
          </p:cNvCxnSpPr>
          <p:nvPr/>
        </p:nvCxnSpPr>
        <p:spPr>
          <a:xfrm flipH="1">
            <a:off x="6502017" y="2122823"/>
            <a:ext cx="1018029" cy="373209"/>
          </a:xfrm>
          <a:prstGeom prst="straightConnector1">
            <a:avLst/>
          </a:prstGeom>
          <a:ln w="1905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35843726-8901-F5D5-3161-798DEE45FEFA}"/>
              </a:ext>
            </a:extLst>
          </p:cNvPr>
          <p:cNvSpPr/>
          <p:nvPr/>
        </p:nvSpPr>
        <p:spPr bwMode="auto">
          <a:xfrm>
            <a:off x="4738570" y="3106937"/>
            <a:ext cx="215365" cy="258058"/>
          </a:xfrm>
          <a:prstGeom prst="ellips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</a:pPr>
            <a:endParaRPr lang="en-US" sz="1333">
              <a:latin typeface="Tahoma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1B6616A-FAE8-D391-ED1D-E166AC8C6961}"/>
              </a:ext>
            </a:extLst>
          </p:cNvPr>
          <p:cNvSpPr/>
          <p:nvPr/>
        </p:nvSpPr>
        <p:spPr bwMode="auto">
          <a:xfrm>
            <a:off x="7240779" y="3099842"/>
            <a:ext cx="215365" cy="258058"/>
          </a:xfrm>
          <a:prstGeom prst="ellips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</a:pPr>
            <a:endParaRPr lang="en-US" sz="1333">
              <a:latin typeface="Tahoma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9AC8735-9CE4-D67C-65CD-4A30DCB28067}"/>
              </a:ext>
            </a:extLst>
          </p:cNvPr>
          <p:cNvSpPr/>
          <p:nvPr/>
        </p:nvSpPr>
        <p:spPr bwMode="auto">
          <a:xfrm>
            <a:off x="7233684" y="4464352"/>
            <a:ext cx="215365" cy="258058"/>
          </a:xfrm>
          <a:prstGeom prst="ellips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</a:pPr>
            <a:endParaRPr lang="en-US" sz="1333">
              <a:latin typeface="Tahoma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058E8C-F05C-540C-A0AA-CC4707AC29BD}"/>
              </a:ext>
            </a:extLst>
          </p:cNvPr>
          <p:cNvSpPr txBox="1"/>
          <p:nvPr/>
        </p:nvSpPr>
        <p:spPr>
          <a:xfrm>
            <a:off x="4807621" y="2675046"/>
            <a:ext cx="1271030" cy="5025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3" dirty="0"/>
              <a:t>Application</a:t>
            </a:r>
          </a:p>
          <a:p>
            <a:r>
              <a:rPr lang="en-US" sz="1333" dirty="0"/>
              <a:t>Port State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951A55B-C1A6-542D-040C-E50FE72D46B2}"/>
              </a:ext>
            </a:extLst>
          </p:cNvPr>
          <p:cNvSpPr txBox="1"/>
          <p:nvPr/>
        </p:nvSpPr>
        <p:spPr>
          <a:xfrm>
            <a:off x="192142" y="4149273"/>
            <a:ext cx="2038239" cy="5025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3" dirty="0"/>
              <a:t>Type Definitions in AADL Data Model Annex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40E451-D83B-A602-86FA-0CB9F091E957}"/>
              </a:ext>
            </a:extLst>
          </p:cNvPr>
          <p:cNvSpPr txBox="1"/>
          <p:nvPr/>
        </p:nvSpPr>
        <p:spPr>
          <a:xfrm>
            <a:off x="314333" y="4705086"/>
            <a:ext cx="1068940" cy="707694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1333" b="1" dirty="0">
                <a:latin typeface="Courier New" panose="02070309020205020404" pitchFamily="49" charset="0"/>
                <a:cs typeface="Courier New" panose="02070309020205020404" pitchFamily="49" charset="0"/>
              </a:rPr>
              <a:t>data T1</a:t>
            </a:r>
          </a:p>
          <a:p>
            <a:r>
              <a:rPr lang="en-US" sz="1333" b="1" dirty="0">
                <a:latin typeface="Courier New" panose="02070309020205020404" pitchFamily="49" charset="0"/>
                <a:cs typeface="Courier New" panose="02070309020205020404" pitchFamily="49" charset="0"/>
              </a:rPr>
              <a:t>   …</a:t>
            </a:r>
          </a:p>
          <a:p>
            <a:r>
              <a:rPr lang="en-US" sz="1333" b="1" dirty="0">
                <a:latin typeface="Courier New" panose="02070309020205020404" pitchFamily="49" charset="0"/>
                <a:cs typeface="Courier New" panose="02070309020205020404" pitchFamily="49" charset="0"/>
              </a:rPr>
              <a:t>end T1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C10686F-23F7-53E7-546B-A8E8317D957A}"/>
              </a:ext>
            </a:extLst>
          </p:cNvPr>
          <p:cNvSpPr txBox="1"/>
          <p:nvPr/>
        </p:nvSpPr>
        <p:spPr>
          <a:xfrm>
            <a:off x="1625962" y="4711786"/>
            <a:ext cx="1068940" cy="707694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1333" b="1" dirty="0">
                <a:latin typeface="Courier New" panose="02070309020205020404" pitchFamily="49" charset="0"/>
                <a:cs typeface="Courier New" panose="02070309020205020404" pitchFamily="49" charset="0"/>
              </a:rPr>
              <a:t>data Tn</a:t>
            </a:r>
          </a:p>
          <a:p>
            <a:r>
              <a:rPr lang="en-US" sz="1333" b="1" dirty="0">
                <a:latin typeface="Courier New" panose="02070309020205020404" pitchFamily="49" charset="0"/>
                <a:cs typeface="Courier New" panose="02070309020205020404" pitchFamily="49" charset="0"/>
              </a:rPr>
              <a:t>   …</a:t>
            </a:r>
          </a:p>
          <a:p>
            <a:r>
              <a:rPr lang="en-US" sz="1333" b="1" dirty="0">
                <a:latin typeface="Courier New" panose="02070309020205020404" pitchFamily="49" charset="0"/>
                <a:cs typeface="Courier New" panose="02070309020205020404" pitchFamily="49" charset="0"/>
              </a:rPr>
              <a:t>end Tn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3828C7E-F7D3-3C44-89F7-FC8FEC27A2C3}"/>
              </a:ext>
            </a:extLst>
          </p:cNvPr>
          <p:cNvCxnSpPr>
            <a:cxnSpLocks/>
          </p:cNvCxnSpPr>
          <p:nvPr/>
        </p:nvCxnSpPr>
        <p:spPr>
          <a:xfrm flipV="1">
            <a:off x="1520815" y="5440820"/>
            <a:ext cx="312637" cy="369393"/>
          </a:xfrm>
          <a:prstGeom prst="straightConnector1">
            <a:avLst/>
          </a:prstGeom>
          <a:ln w="1905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01151FC0-85D8-DC80-9E16-6831BEE123E7}"/>
              </a:ext>
            </a:extLst>
          </p:cNvPr>
          <p:cNvSpPr txBox="1"/>
          <p:nvPr/>
        </p:nvSpPr>
        <p:spPr>
          <a:xfrm>
            <a:off x="1285692" y="1544757"/>
            <a:ext cx="21798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i="1" dirty="0"/>
              <a:t>Specify properties of values flowing through a port.  Readers can assume; Writers must guarantee.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90C00D6-9F81-D124-E2C6-3FE666498B85}"/>
              </a:ext>
            </a:extLst>
          </p:cNvPr>
          <p:cNvSpPr txBox="1"/>
          <p:nvPr/>
        </p:nvSpPr>
        <p:spPr>
          <a:xfrm>
            <a:off x="344647" y="6112642"/>
            <a:ext cx="191237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i="1" dirty="0"/>
              <a:t>Specify properties that must hold for all values of a particular type.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CFF0A18-C70C-087F-9049-CB95FB708F29}"/>
              </a:ext>
            </a:extLst>
          </p:cNvPr>
          <p:cNvSpPr txBox="1"/>
          <p:nvPr/>
        </p:nvSpPr>
        <p:spPr>
          <a:xfrm>
            <a:off x="8020711" y="2158847"/>
            <a:ext cx="212166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i="1" dirty="0"/>
              <a:t>Indicate component state relevant to contract-specified behavior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74E5AFF-00ED-88DB-7E1C-C91891EBC6B4}"/>
              </a:ext>
            </a:extLst>
          </p:cNvPr>
          <p:cNvSpPr txBox="1"/>
          <p:nvPr/>
        </p:nvSpPr>
        <p:spPr>
          <a:xfrm>
            <a:off x="4314151" y="740258"/>
            <a:ext cx="2038239" cy="5025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3" dirty="0"/>
              <a:t>HAMR-generated thread infrastructure code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AF16E16-6C54-28B5-8520-FF62FDB3470C}"/>
              </a:ext>
            </a:extLst>
          </p:cNvPr>
          <p:cNvSpPr txBox="1"/>
          <p:nvPr/>
        </p:nvSpPr>
        <p:spPr>
          <a:xfrm>
            <a:off x="4846252" y="3352211"/>
            <a:ext cx="16320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u="sng" dirty="0"/>
              <a:t>Entry Points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3BB11CA-0BFA-B063-906A-A0B69D7669B2}"/>
              </a:ext>
            </a:extLst>
          </p:cNvPr>
          <p:cNvSpPr txBox="1"/>
          <p:nvPr/>
        </p:nvSpPr>
        <p:spPr>
          <a:xfrm>
            <a:off x="5013250" y="4796497"/>
            <a:ext cx="17856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Assumptions on input</a:t>
            </a:r>
          </a:p>
          <a:p>
            <a:r>
              <a:rPr lang="en-US" sz="1400" i="1" dirty="0"/>
              <a:t>Guarantees on output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64A9386-EBE8-8B3C-CAC5-3CDD1E16C6EB}"/>
              </a:ext>
            </a:extLst>
          </p:cNvPr>
          <p:cNvSpPr txBox="1"/>
          <p:nvPr/>
        </p:nvSpPr>
        <p:spPr>
          <a:xfrm>
            <a:off x="4983992" y="3757636"/>
            <a:ext cx="14372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initialize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8EB4111-D912-1FB3-5D91-A99AA946EF79}"/>
              </a:ext>
            </a:extLst>
          </p:cNvPr>
          <p:cNvSpPr txBox="1"/>
          <p:nvPr/>
        </p:nvSpPr>
        <p:spPr>
          <a:xfrm>
            <a:off x="4988740" y="4475196"/>
            <a:ext cx="14372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compute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024F46D-BD85-33E9-B269-9C900E75A422}"/>
              </a:ext>
            </a:extLst>
          </p:cNvPr>
          <p:cNvSpPr txBox="1"/>
          <p:nvPr/>
        </p:nvSpPr>
        <p:spPr>
          <a:xfrm>
            <a:off x="5046348" y="4041011"/>
            <a:ext cx="17856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Guarantees on output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7E177D09-074A-2EB7-BD0C-37688B15286A}"/>
              </a:ext>
            </a:extLst>
          </p:cNvPr>
          <p:cNvCxnSpPr>
            <a:cxnSpLocks/>
          </p:cNvCxnSpPr>
          <p:nvPr/>
        </p:nvCxnSpPr>
        <p:spPr>
          <a:xfrm>
            <a:off x="6821332" y="3941071"/>
            <a:ext cx="10633" cy="1378646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06544640-6BAD-100F-8DC1-050F50795674}"/>
              </a:ext>
            </a:extLst>
          </p:cNvPr>
          <p:cNvSpPr txBox="1"/>
          <p:nvPr/>
        </p:nvSpPr>
        <p:spPr>
          <a:xfrm>
            <a:off x="8021994" y="5660758"/>
            <a:ext cx="253613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i="1" dirty="0"/>
              <a:t>Specify relational properties on application view of state &amp; ports inputs/outputs that are enforced on each dispatch.</a:t>
            </a:r>
          </a:p>
        </p:txBody>
      </p:sp>
      <p:sp>
        <p:nvSpPr>
          <p:cNvPr id="66" name="Text Box 12">
            <a:extLst>
              <a:ext uri="{FF2B5EF4-FFF2-40B4-BE49-F238E27FC236}">
                <a16:creationId xmlns:a16="http://schemas.microsoft.com/office/drawing/2014/main" id="{CE8E8164-8FF1-E833-C6A5-5338AF2897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21217" y="398787"/>
            <a:ext cx="2121660" cy="3385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63500" dist="35921" dir="2700000" algn="ctr" rotWithShape="0">
              <a:schemeClr val="bg2"/>
            </a:outerShdw>
          </a:effectLst>
        </p:spPr>
        <p:txBody>
          <a:bodyPr wrap="square" anchor="ctr">
            <a:prstTxWarp prst="textNoShape">
              <a:avLst/>
            </a:prstTxWarp>
            <a:spAutoFit/>
          </a:bodyPr>
          <a:lstStyle/>
          <a:p>
            <a:pPr algn="l"/>
            <a:r>
              <a:rPr lang="en-US" sz="1600" b="1" i="1" dirty="0"/>
              <a:t>GCL Annex Library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A89326B-E511-DF02-86AD-7EA8035B1084}"/>
              </a:ext>
            </a:extLst>
          </p:cNvPr>
          <p:cNvSpPr txBox="1"/>
          <p:nvPr/>
        </p:nvSpPr>
        <p:spPr>
          <a:xfrm>
            <a:off x="9977597" y="813655"/>
            <a:ext cx="2121660" cy="707694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1333" b="1" dirty="0"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sz="1333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f1(..): T1 = ..</a:t>
            </a:r>
          </a:p>
          <a:p>
            <a:r>
              <a:rPr lang="en-US" sz="1333" b="1" dirty="0">
                <a:latin typeface="Courier New" panose="02070309020205020404" pitchFamily="49" charset="0"/>
                <a:cs typeface="Courier New" panose="02070309020205020404" pitchFamily="49" charset="0"/>
              </a:rPr>
              <a:t>   …</a:t>
            </a:r>
          </a:p>
          <a:p>
            <a:r>
              <a:rPr lang="en-US" sz="1333" b="1" dirty="0"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sz="1333" b="1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fn</a:t>
            </a:r>
            <a:r>
              <a:rPr lang="en-US" sz="1333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(..): Tn = ..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4484BBC-F086-F186-AD38-EC302A2D6476}"/>
              </a:ext>
            </a:extLst>
          </p:cNvPr>
          <p:cNvSpPr txBox="1"/>
          <p:nvPr/>
        </p:nvSpPr>
        <p:spPr>
          <a:xfrm>
            <a:off x="9952289" y="1479148"/>
            <a:ext cx="21216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i="1" dirty="0"/>
              <a:t>Helper functions that can be called by GCL contracts</a:t>
            </a:r>
          </a:p>
        </p:txBody>
      </p:sp>
    </p:spTree>
    <p:extLst>
      <p:ext uri="{BB962C8B-B14F-4D97-AF65-F5344CB8AC3E}">
        <p14:creationId xmlns:p14="http://schemas.microsoft.com/office/powerpoint/2010/main" val="7315406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148</Words>
  <Application>Microsoft Macintosh PowerPoint</Application>
  <PresentationFormat>Widescreen</PresentationFormat>
  <Paragraphs>46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Courier New</vt:lpstr>
      <vt:lpstr>Tahoma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Danielle Stewart</dc:creator>
  <cp:lastModifiedBy>John Hatcliff</cp:lastModifiedBy>
  <cp:revision>6</cp:revision>
  <dcterms:created xsi:type="dcterms:W3CDTF">2022-09-26T18:21:23Z</dcterms:created>
  <dcterms:modified xsi:type="dcterms:W3CDTF">2023-06-03T08:20:49Z</dcterms:modified>
</cp:coreProperties>
</file>